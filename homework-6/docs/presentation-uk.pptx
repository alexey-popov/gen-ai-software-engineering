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0"/>
            <a:ext cx="2133295" cy="6858000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0"/>
            <a:ext cx="2133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0E0E0E"/>
                </a:solidFill>
                <a:latin typeface="Segoe UI Semibold"/>
              </a:rPr>
              <a:t>AI</a:t>
            </a:r>
          </a:p>
          <a:p>
            <a:pPr algn="ctr"/>
            <a:r>
              <a:rPr sz="1600" b="1">
                <a:solidFill>
                  <a:srgbClr val="0E0E0E"/>
                </a:solidFill>
                <a:latin typeface="Segoe UI Semibold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SET</a:t>
            </a:r>
            <a:r>
              <a:rPr sz="1400" b="1">
                <a:solidFill>
                  <a:srgbClr val="FFFFFF"/>
                </a:solidFill>
                <a:latin typeface="Segoe UI Semibold"/>
              </a:rPr>
              <a:t>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280160" cy="109728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9144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Segoe UI Semibold"/>
              </a:rPr>
              <a:t>Багатоагентний</a:t>
            </a:r>
          </a:p>
          <a:p>
            <a:pPr algn="l">
              <a:spcAft>
                <a:spcPts val="1400"/>
              </a:spcAft>
            </a:pPr>
            <a:r>
              <a:rPr sz="4600" b="1">
                <a:solidFill>
                  <a:srgbClr val="C6F432"/>
                </a:solidFill>
                <a:latin typeface="Segoe UI Semibold"/>
              </a:rPr>
              <a:t>банківський пайплайн</a:t>
            </a:r>
          </a:p>
          <a:p>
            <a:pPr algn="l"/>
            <a:r>
              <a:rPr sz="1700" b="0">
                <a:solidFill>
                  <a:srgbClr val="B5B5B5"/>
                </a:solidFill>
                <a:latin typeface="Segoe UI"/>
              </a:rPr>
              <a:t>AI-орієнтована система: REST-агенти, майстер-агент (оркестратор) і конфігурований rule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521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Python 3.10+   ·   FastAPI + Uvicorn   ·   pytest ~99% покриття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B5B5"/>
                </a:solidFill>
                <a:latin typeface="Segoe UI"/>
              </a:rPr>
              <a:t>setuniversity.edu.ua  ·  Багатоагентний банківський пайплайн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C6F432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SET</a:t>
            </a:r>
            <a:r>
              <a:rPr sz="1400" b="1">
                <a:solidFill>
                  <a:srgbClr val="FFFFFF"/>
                </a:solidFill>
                <a:latin typeface="Segoe UI Semibold"/>
              </a:rPr>
              <a:t>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" cy="82296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6F432"/>
                </a:solidFill>
                <a:latin typeface="Segoe UI Semibold"/>
              </a:rPr>
              <a:t>ПІДСУМОК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 Semibold"/>
              </a:rPr>
              <a:t>Що це за система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C6F432"/>
                </a:solidFill>
                <a:latin typeface="Segoe UI"/>
              </a:rPr>
              <a:t>▍ </a:t>
            </a:r>
            <a:r>
              <a:rPr sz="1700" b="1">
                <a:solidFill>
                  <a:srgbClr val="C6F432"/>
                </a:solidFill>
                <a:latin typeface="Segoe UI Semibold"/>
              </a:rPr>
              <a:t>Пайплайн  </a:t>
            </a:r>
            <a:r>
              <a:rPr sz="1700" b="0">
                <a:solidFill>
                  <a:srgbClr val="FFFFFF"/>
                </a:solidFill>
                <a:latin typeface="Segoe UI"/>
              </a:rPr>
              <a:t>обробляє банківські транзакції через 6 кооперуючих агентів.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6F432"/>
                </a:solidFill>
                <a:latin typeface="Segoe UI"/>
              </a:rPr>
              <a:t>▍ </a:t>
            </a:r>
            <a:r>
              <a:rPr sz="1700" b="1">
                <a:solidFill>
                  <a:srgbClr val="C6F432"/>
                </a:solidFill>
                <a:latin typeface="Segoe UI Semibold"/>
              </a:rPr>
              <a:t>REST  </a:t>
            </a:r>
            <a:r>
              <a:rPr sz="1700" b="0">
                <a:solidFill>
                  <a:srgbClr val="FFFFFF"/>
                </a:solidFill>
                <a:latin typeface="Segoe UI"/>
              </a:rPr>
              <a:t>кожен агент — окремий FastAPI-сервіс на своєму порту.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6F432"/>
                </a:solidFill>
                <a:latin typeface="Segoe UI"/>
              </a:rPr>
              <a:t>▍ </a:t>
            </a:r>
            <a:r>
              <a:rPr sz="1700" b="1">
                <a:solidFill>
                  <a:srgbClr val="C6F432"/>
                </a:solidFill>
                <a:latin typeface="Segoe UI Semibold"/>
              </a:rPr>
              <a:t>Майстер-агент  </a:t>
            </a:r>
            <a:r>
              <a:rPr sz="1700" b="0">
                <a:solidFill>
                  <a:srgbClr val="FFFFFF"/>
                </a:solidFill>
                <a:latin typeface="Segoe UI"/>
              </a:rPr>
              <a:t>оркестратор веде транзакцію по ланцюгу через HTTP і надає API-шлюз.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6F432"/>
                </a:solidFill>
                <a:latin typeface="Segoe UI"/>
              </a:rPr>
              <a:t>▍ </a:t>
            </a:r>
            <a:r>
              <a:rPr sz="1700" b="1">
                <a:solidFill>
                  <a:srgbClr val="C6F432"/>
                </a:solidFill>
                <a:latin typeface="Segoe UI Semibold"/>
              </a:rPr>
              <a:t>Rule engine  </a:t>
            </a:r>
            <a:r>
              <a:rPr sz="1700" b="0">
                <a:solidFill>
                  <a:srgbClr val="FFFFFF"/>
                </a:solidFill>
                <a:latin typeface="Segoe UI"/>
              </a:rPr>
              <a:t>усі пороги, ліміти й блок-листи — у config/rules.json, не в коді.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6F432"/>
                </a:solidFill>
                <a:latin typeface="Segoe UI"/>
              </a:rPr>
              <a:t>▍ </a:t>
            </a:r>
            <a:r>
              <a:rPr sz="1700" b="1">
                <a:solidFill>
                  <a:srgbClr val="C6F432"/>
                </a:solidFill>
                <a:latin typeface="Segoe UI Semibold"/>
              </a:rPr>
              <a:t>Гроші  </a:t>
            </a:r>
            <a:r>
              <a:rPr sz="1700" b="0">
                <a:solidFill>
                  <a:srgbClr val="FFFFFF"/>
                </a:solidFill>
                <a:latin typeface="Segoe UI"/>
              </a:rPr>
              <a:t>лише decimal.Decimal із ROUND_HALF_UP — ніколи float.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6F432"/>
                </a:solidFill>
                <a:latin typeface="Segoe UI"/>
              </a:rPr>
              <a:t>▍ </a:t>
            </a:r>
            <a:r>
              <a:rPr sz="1700" b="1">
                <a:solidFill>
                  <a:srgbClr val="C6F432"/>
                </a:solidFill>
                <a:latin typeface="Segoe UI Semibold"/>
              </a:rPr>
              <a:t>Аудит  </a:t>
            </a:r>
            <a:r>
              <a:rPr sz="1700" b="0">
                <a:solidFill>
                  <a:srgbClr val="FFFFFF"/>
                </a:solidFill>
                <a:latin typeface="Segoe UI"/>
              </a:rPr>
              <a:t>кожен крок логуються без PII; результати — у shared/results/.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B5B5"/>
                </a:solidFill>
                <a:latin typeface="Segoe UI"/>
              </a:rPr>
              <a:t>setuniversity.edu.ua  ·  Багатоагентний банківський пайплайн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C6F432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SET</a:t>
            </a:r>
            <a:r>
              <a:rPr sz="1400" b="1">
                <a:solidFill>
                  <a:srgbClr val="FFFFFF"/>
                </a:solidFill>
                <a:latin typeface="Segoe UI Semibold"/>
              </a:rPr>
              <a:t>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" cy="82296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6F432"/>
                </a:solidFill>
                <a:latin typeface="Segoe UI Semibold"/>
              </a:rPr>
              <a:t>АРХІТЕКТУРА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 Semibold"/>
              </a:rPr>
              <a:t>Оркестратор + ланцюг агентів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2194560"/>
            <a:ext cx="4114800" cy="868680"/>
          </a:xfrm>
          <a:prstGeom prst="roundRect">
            <a:avLst>
              <a:gd name="adj" fmla="val 6000"/>
            </a:avLst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2304288"/>
            <a:ext cx="4114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E0E0E"/>
                </a:solidFill>
                <a:latin typeface="Segoe UI Semibold"/>
              </a:rPr>
              <a:t>Orchestrator / API Gateway</a:t>
            </a:r>
          </a:p>
          <a:p>
            <a:pPr algn="ctr"/>
            <a:r>
              <a:rPr sz="900" b="0">
                <a:solidFill>
                  <a:srgbClr val="B5B5B5"/>
                </a:solidFill>
                <a:latin typeface="Segoe UI"/>
              </a:rPr>
              <a:t>майстер-агент · 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03580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6F432"/>
                </a:solidFill>
                <a:latin typeface="Segoe U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Validator</a:t>
            </a:r>
          </a:p>
          <a:p>
            <a:pPr algn="ctr"/>
            <a:r>
              <a:rPr sz="900" b="0">
                <a:solidFill>
                  <a:srgbClr val="B5B5B5"/>
                </a:solidFill>
                <a:latin typeface="Segoe UI"/>
              </a:rPr>
              <a:t>:8001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886200"/>
            <a:ext cx="118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F432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36118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3721608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Policy</a:t>
            </a:r>
          </a:p>
          <a:p>
            <a:pPr algn="ctr"/>
            <a:r>
              <a:rPr sz="900" b="0">
                <a:solidFill>
                  <a:srgbClr val="B5B5B5"/>
                </a:solidFill>
                <a:latin typeface="Segoe UI"/>
              </a:rPr>
              <a:t>:8002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454456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C6F432"/>
                </a:solidFill>
                <a:latin typeface="Segoe UI"/>
              </a:rPr>
              <a:t>новий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3886200"/>
            <a:ext cx="118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F432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36118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3721608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Fraud</a:t>
            </a:r>
          </a:p>
          <a:p>
            <a:pPr algn="ctr"/>
            <a:r>
              <a:rPr sz="900" b="0">
                <a:solidFill>
                  <a:srgbClr val="B5B5B5"/>
                </a:solidFill>
                <a:latin typeface="Segoe UI"/>
              </a:rPr>
              <a:t>:8003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3886200"/>
            <a:ext cx="118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F432"/>
                </a:solidFill>
                <a:latin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36118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3721608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Compliance</a:t>
            </a:r>
          </a:p>
          <a:p>
            <a:pPr algn="ctr"/>
            <a:r>
              <a:rPr sz="900" b="0">
                <a:solidFill>
                  <a:srgbClr val="B5B5B5"/>
                </a:solidFill>
                <a:latin typeface="Segoe UI"/>
              </a:rPr>
              <a:t>:8004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6" y="3886200"/>
            <a:ext cx="118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F432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36118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721608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Settlement</a:t>
            </a:r>
          </a:p>
          <a:p>
            <a:pPr algn="ctr"/>
            <a:r>
              <a:rPr sz="900" b="0">
                <a:solidFill>
                  <a:srgbClr val="B5B5B5"/>
                </a:solidFill>
                <a:latin typeface="Segoe UI"/>
              </a:rPr>
              <a:t>:8005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3886200"/>
            <a:ext cx="118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F432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36118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3721608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Reporting</a:t>
            </a:r>
          </a:p>
          <a:p>
            <a:pPr algn="ctr"/>
            <a:r>
              <a:rPr sz="900" b="0">
                <a:solidFill>
                  <a:srgbClr val="B5B5B5"/>
                </a:solidFill>
                <a:latin typeface="Segoe UI"/>
              </a:rPr>
              <a:t>:8006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00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5B5B5"/>
                </a:solidFill>
                <a:latin typeface="Segoe UI"/>
              </a:rPr>
              <a:t>Маршрутизація керується полем target_agent у відповіді: відмова/hold одразу йдуть у Reporting.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0468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shared/results/</a:t>
            </a:r>
          </a:p>
          <a:p>
            <a:pPr algn="ctr"/>
            <a:r>
              <a:rPr sz="900" b="0">
                <a:solidFill>
                  <a:srgbClr val="B5B5B5"/>
                </a:solidFill>
                <a:latin typeface="Segoe UI"/>
              </a:rPr>
              <a:t>TXN.json · pipeline-summary.json · audit-log.jsonl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5394960"/>
            <a:ext cx="5760720" cy="7772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5504688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config/rules.json</a:t>
            </a:r>
          </a:p>
          <a:p>
            <a:pPr algn="ctr"/>
            <a:r>
              <a:rPr sz="900" b="0">
                <a:solidFill>
                  <a:srgbClr val="B5B5B5"/>
                </a:solidFill>
                <a:latin typeface="Segoe UI"/>
              </a:rPr>
              <a:t>rule engine: policy · fraud · compliance · settlement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B5B5"/>
                </a:solidFill>
                <a:latin typeface="Segoe UI"/>
              </a:rPr>
              <a:t>setuniversity.edu.ua  ·  Багатоагентний банківський пайплайн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C6F432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SET</a:t>
            </a:r>
            <a:r>
              <a:rPr sz="1400" b="1">
                <a:solidFill>
                  <a:srgbClr val="FFFFFF"/>
                </a:solidFill>
                <a:latin typeface="Segoe UI Semibold"/>
              </a:rPr>
              <a:t>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" cy="82296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6F432"/>
                </a:solidFill>
                <a:latin typeface="Segoe UI Semibold"/>
              </a:rPr>
              <a:t>АГЕНТИ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 Semibold"/>
              </a:rPr>
              <a:t>Що робить кожен 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1155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C6F432"/>
                </a:solidFill>
                <a:latin typeface="Segoe UI"/>
              </a:rPr>
              <a:t>▍ </a:t>
            </a:r>
            <a:r>
              <a:rPr sz="1600" b="1">
                <a:solidFill>
                  <a:srgbClr val="C6F432"/>
                </a:solidFill>
                <a:latin typeface="Segoe UI Semibold"/>
              </a:rPr>
              <a:t>Validator  </a:t>
            </a:r>
            <a:r>
              <a:rPr sz="1600" b="0">
                <a:solidFill>
                  <a:srgbClr val="FFFFFF"/>
                </a:solidFill>
                <a:latin typeface="Segoe UI"/>
              </a:rPr>
              <a:t>обов'язкові поля, decimal-сума, валюта ISO 4217 → відхиляє некоректні.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C6F432"/>
                </a:solidFill>
                <a:latin typeface="Segoe UI"/>
              </a:rPr>
              <a:t>▍ </a:t>
            </a:r>
            <a:r>
              <a:rPr sz="1600" b="1">
                <a:solidFill>
                  <a:srgbClr val="C6F432"/>
                </a:solidFill>
                <a:latin typeface="Segoe UI Semibold"/>
              </a:rPr>
              <a:t>Policy (новий)  </a:t>
            </a:r>
            <a:r>
              <a:rPr sz="1600" b="0">
                <a:solidFill>
                  <a:srgbClr val="FFFFFF"/>
                </a:solidFill>
                <a:latin typeface="Segoe UI"/>
              </a:rPr>
              <a:t>бізнес-політика з конфігу: дозволені валюти, ліміт суми, заборонені країни/типи.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C6F432"/>
                </a:solidFill>
                <a:latin typeface="Segoe UI"/>
              </a:rPr>
              <a:t>▍ </a:t>
            </a:r>
            <a:r>
              <a:rPr sz="1600" b="1">
                <a:solidFill>
                  <a:srgbClr val="C6F432"/>
                </a:solidFill>
                <a:latin typeface="Segoe UI Semibold"/>
              </a:rPr>
              <a:t>Fraud  </a:t>
            </a:r>
            <a:r>
              <a:rPr sz="1600" b="0">
                <a:solidFill>
                  <a:srgbClr val="FFFFFF"/>
                </a:solidFill>
                <a:latin typeface="Segoe UI"/>
              </a:rPr>
              <a:t>ризик-скоринг (велика сума, structuring, нічний час, cross-border, wire) → flag.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C6F432"/>
                </a:solidFill>
                <a:latin typeface="Segoe UI"/>
              </a:rPr>
              <a:t>▍ </a:t>
            </a:r>
            <a:r>
              <a:rPr sz="1600" b="1">
                <a:solidFill>
                  <a:srgbClr val="C6F432"/>
                </a:solidFill>
                <a:latin typeface="Segoe UI Semibold"/>
              </a:rPr>
              <a:t>Compliance  </a:t>
            </a:r>
            <a:r>
              <a:rPr sz="1600" b="0">
                <a:solidFill>
                  <a:srgbClr val="FFFFFF"/>
                </a:solidFill>
                <a:latin typeface="Segoe UI"/>
              </a:rPr>
              <a:t>блок-листи рахунків, ліміт wire, поріг CTR (≥ $10k) → compliance_hold.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C6F432"/>
                </a:solidFill>
                <a:latin typeface="Segoe UI"/>
              </a:rPr>
              <a:t>▍ </a:t>
            </a:r>
            <a:r>
              <a:rPr sz="1600" b="1">
                <a:solidFill>
                  <a:srgbClr val="C6F432"/>
                </a:solidFill>
                <a:latin typeface="Segoe UI Semibold"/>
              </a:rPr>
              <a:t>Settlement  </a:t>
            </a:r>
            <a:r>
              <a:rPr sz="1600" b="0">
                <a:solidFill>
                  <a:srgbClr val="FFFFFF"/>
                </a:solidFill>
                <a:latin typeface="Segoe UI"/>
              </a:rPr>
              <a:t>розрахунок комісії (ставка з конфігу) і нетто, decimal + ROUND_HALF_UP.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C6F432"/>
                </a:solidFill>
                <a:latin typeface="Segoe UI"/>
              </a:rPr>
              <a:t>▍ </a:t>
            </a:r>
            <a:r>
              <a:rPr sz="1600" b="1">
                <a:solidFill>
                  <a:srgbClr val="C6F432"/>
                </a:solidFill>
                <a:latin typeface="Segoe UI Semibold"/>
              </a:rPr>
              <a:t>Reporting  </a:t>
            </a:r>
            <a:r>
              <a:rPr sz="1600" b="0">
                <a:solidFill>
                  <a:srgbClr val="FFFFFF"/>
                </a:solidFill>
                <a:latin typeface="Segoe UI"/>
              </a:rPr>
              <a:t>агрегує всі результати у підсумок прогону.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B5B5"/>
                </a:solidFill>
                <a:latin typeface="Segoe UI"/>
              </a:rPr>
              <a:t>setuniversity.edu.ua  ·  Багатоагентний банківський пайплайн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C6F432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SET</a:t>
            </a:r>
            <a:r>
              <a:rPr sz="1400" b="1">
                <a:solidFill>
                  <a:srgbClr val="FFFFFF"/>
                </a:solidFill>
                <a:latin typeface="Segoe UI Semibold"/>
              </a:rPr>
              <a:t>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" cy="82296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6F432"/>
                </a:solidFill>
                <a:latin typeface="Segoe UI Semibold"/>
              </a:rPr>
              <a:t>КОНФІГУРАЦІЯ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 Semibold"/>
              </a:rPr>
              <a:t>Конфігурований rule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C6F432"/>
                </a:solidFill>
                <a:latin typeface="Segoe UI"/>
              </a:rPr>
              <a:t>▍ </a:t>
            </a:r>
            <a:r>
              <a:rPr sz="1500" b="1">
                <a:solidFill>
                  <a:srgbClr val="C6F432"/>
                </a:solidFill>
                <a:latin typeface="Segoe UI Semibold"/>
              </a:rPr>
              <a:t>Правила = дані  </a:t>
            </a:r>
            <a:r>
              <a:rPr sz="1500" b="0">
                <a:solidFill>
                  <a:srgbClr val="FFFFFF"/>
                </a:solidFill>
                <a:latin typeface="Segoe UI"/>
              </a:rPr>
              <a:t>усі значення в config/rules.json.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6F432"/>
                </a:solidFill>
                <a:latin typeface="Segoe UI"/>
              </a:rPr>
              <a:t>▍ </a:t>
            </a:r>
            <a:r>
              <a:rPr sz="1500" b="1">
                <a:solidFill>
                  <a:srgbClr val="C6F432"/>
                </a:solidFill>
                <a:latin typeface="Segoe UI Semibold"/>
              </a:rPr>
              <a:t>4 секції  </a:t>
            </a:r>
            <a:r>
              <a:rPr sz="1500" b="0">
                <a:solidFill>
                  <a:srgbClr val="FFFFFF"/>
                </a:solidFill>
                <a:latin typeface="Segoe UI"/>
              </a:rPr>
              <a:t>policy · fraud · compliance · settlement.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6F432"/>
                </a:solidFill>
                <a:latin typeface="Segoe UI"/>
              </a:rPr>
              <a:t>▍ </a:t>
            </a:r>
            <a:r>
              <a:rPr sz="1500" b="1">
                <a:solidFill>
                  <a:srgbClr val="C6F432"/>
                </a:solidFill>
                <a:latin typeface="Segoe UI Semibold"/>
              </a:rPr>
              <a:t>Без коду  </a:t>
            </a:r>
            <a:r>
              <a:rPr sz="1500" b="0">
                <a:solidFill>
                  <a:srgbClr val="FFFFFF"/>
                </a:solidFill>
                <a:latin typeface="Segoe UI"/>
              </a:rPr>
              <a:t>зміни JSON → зміна поведінки, без правок Python.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6F432"/>
                </a:solidFill>
                <a:latin typeface="Segoe UI"/>
              </a:rPr>
              <a:t>▍ </a:t>
            </a:r>
            <a:r>
              <a:rPr sz="1500" b="1">
                <a:solidFill>
                  <a:srgbClr val="C6F432"/>
                </a:solidFill>
                <a:latin typeface="Segoe UI Semibold"/>
              </a:rPr>
              <a:t>Сумісність  </a:t>
            </a:r>
            <a:r>
              <a:rPr sz="1500" b="0">
                <a:solidFill>
                  <a:srgbClr val="FFFFFF"/>
                </a:solidFill>
                <a:latin typeface="Segoe UI"/>
              </a:rPr>
              <a:t>стандартний конфіг відтворює початкові результати.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40280"/>
            <a:ext cx="5349240" cy="370332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4937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C6F432"/>
                </a:solidFill>
                <a:latin typeface="Segoe UI Semibold"/>
              </a:rPr>
              <a:t>config/rules.json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"policy": {</a:t>
            </a:r>
          </a:p>
          <a:p>
            <a:pPr algn="l"/>
            <a:r>
              <a:rPr sz="1100" b="0">
                <a:solidFill>
                  <a:srgbClr val="B5B5B5"/>
                </a:solidFill>
                <a:latin typeface="Consolas"/>
              </a:rPr>
              <a:t>   "allowed_currencies": ["USD","EUR","GBP"],</a:t>
            </a:r>
          </a:p>
          <a:p>
            <a:pPr algn="l"/>
            <a:r>
              <a:rPr sz="1100" b="0">
                <a:solidFill>
                  <a:srgbClr val="B5B5B5"/>
                </a:solidFill>
                <a:latin typeface="Consolas"/>
              </a:rPr>
              <a:t>   "max_transaction_amount": "1000000.00",</a:t>
            </a:r>
          </a:p>
          <a:p>
            <a:pPr algn="l"/>
            <a:r>
              <a:rPr sz="1100" b="0">
                <a:solidFill>
                  <a:srgbClr val="B5B5B5"/>
                </a:solidFill>
                <a:latin typeface="Consolas"/>
              </a:rPr>
              <a:t>   "blocked_countries": ["IR","KP","SY"] },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"fraud": {</a:t>
            </a:r>
          </a:p>
          <a:p>
            <a:pPr algn="l"/>
            <a:r>
              <a:rPr sz="1100" b="0">
                <a:solidFill>
                  <a:srgbClr val="B5B5B5"/>
                </a:solidFill>
                <a:latin typeface="Consolas"/>
              </a:rPr>
              <a:t>   "high_value": "10000",</a:t>
            </a:r>
          </a:p>
          <a:p>
            <a:pPr algn="l"/>
            <a:r>
              <a:rPr sz="1100" b="0">
                <a:solidFill>
                  <a:srgbClr val="B5B5B5"/>
                </a:solidFill>
                <a:latin typeface="Consolas"/>
              </a:rPr>
              <a:t>   "very_high_value": "50000", ... },</a:t>
            </a:r>
          </a:p>
          <a:p>
            <a:pPr algn="l"/>
            <a:r>
              <a:rPr sz="1100" b="0">
                <a:solidFill>
                  <a:srgbClr val="B5B5B5"/>
                </a:solidFill>
                <a:latin typeface="Consolas"/>
              </a:rPr>
              <a:t>"compliance": { "wire_autoclear_limit": "50000" },</a:t>
            </a:r>
          </a:p>
          <a:p>
            <a:pPr algn="l"/>
            <a:r>
              <a:rPr sz="1100" b="0">
                <a:solidFill>
                  <a:srgbClr val="B5B5B5"/>
                </a:solidFill>
                <a:latin typeface="Consolas"/>
              </a:rPr>
              <a:t>"settlement": { "fee_rate": "0.001"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B5B5"/>
                </a:solidFill>
                <a:latin typeface="Segoe UI"/>
              </a:rPr>
              <a:t>setuniversity.edu.ua  ·  Багатоагентний банківський пайплайн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C6F432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SET</a:t>
            </a:r>
            <a:r>
              <a:rPr sz="1400" b="1">
                <a:solidFill>
                  <a:srgbClr val="FFFFFF"/>
                </a:solidFill>
                <a:latin typeface="Segoe UI Semibold"/>
              </a:rPr>
              <a:t>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" cy="82296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6F432"/>
                </a:solidFill>
                <a:latin typeface="Segoe UI Semibold"/>
              </a:rPr>
              <a:t>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 Semibold"/>
              </a:rPr>
              <a:t>API-шлюз: відправити та отримати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1064240" cy="749808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280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 Semibold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31720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/api/v1/transactions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31720"/>
            <a:ext cx="46634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5B5B5"/>
                </a:solidFill>
                <a:latin typeface="Segoe UI"/>
              </a:rPr>
              <a:t>відправити одну транзакцію → 201 + 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18688"/>
            <a:ext cx="11064240" cy="749808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1280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18688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/api/v1/transactions/{id}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18688"/>
            <a:ext cx="46634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5B5B5"/>
                </a:solidFill>
                <a:latin typeface="Segoe UI"/>
              </a:rPr>
              <a:t>отримати збережений результат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05656"/>
            <a:ext cx="11064240" cy="749808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05656"/>
            <a:ext cx="1280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 Semibold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105656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/api/v1/pipeline/runs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105656"/>
            <a:ext cx="46634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5B5B5"/>
                </a:solidFill>
                <a:latin typeface="Segoe UI"/>
              </a:rPr>
              <a:t>відправити батч (або семпли) → підсумок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92624"/>
            <a:ext cx="11064240" cy="749808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92624"/>
            <a:ext cx="1280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992624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/api/v1/pipeline/summary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992624"/>
            <a:ext cx="46634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5B5B5"/>
                </a:solidFill>
                <a:latin typeface="Segoe UI"/>
              </a:rPr>
              <a:t>отримати підсумок останнього прогону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5B5B5"/>
                </a:solidFill>
                <a:latin typeface="Segoe UI"/>
              </a:rPr>
              <a:t>Шлюз — на :8000. Воркери також надають /health/live, /health/ready та /docs.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B5B5"/>
                </a:solidFill>
                <a:latin typeface="Segoe UI"/>
              </a:rPr>
              <a:t>setuniversity.edu.ua  ·  Багатоагентний банківський пайплайн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C6F432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SET</a:t>
            </a:r>
            <a:r>
              <a:rPr sz="1400" b="1">
                <a:solidFill>
                  <a:srgbClr val="FFFFFF"/>
                </a:solidFill>
                <a:latin typeface="Segoe UI Semibold"/>
              </a:rPr>
              <a:t>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" cy="82296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6F432"/>
                </a:solidFill>
                <a:latin typeface="Segoe UI Semibold"/>
              </a:rPr>
              <a:t>ЗАПУСК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 Semibold"/>
              </a:rPr>
              <a:t>Як запускати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6F432"/>
                </a:solidFill>
                <a:latin typeface="Segoe UI Semibold"/>
              </a:rPr>
              <a:t>1 · Одна команда (демо)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cd homework-6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pip install -r requirements.txt</a:t>
            </a:r>
          </a:p>
          <a:p>
            <a:pPr algn="l"/>
            <a:r>
              <a:rPr sz="1200" b="0">
                <a:solidFill>
                  <a:srgbClr val="C6F432"/>
                </a:solidFill>
                <a:latin typeface="Consolas"/>
              </a:rPr>
              <a:t>./demo.sh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B5B5B5"/>
                </a:solidFill>
                <a:latin typeface="Segoe UI"/>
              </a:rPr>
              <a:t>старт сервісів → submit по API → вивід → зупинка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6F432"/>
                </a:solidFill>
                <a:latin typeface="Segoe UI Semibold"/>
              </a:rPr>
              <a:t>2 · Вручну + шлюз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python run_services.py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curl -X POST .../api/v1/pipeline/runs -d '{}'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curl .../api/v1/pipeline/summary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6F432"/>
                </a:solidFill>
                <a:latin typeface="Segoe UI Semibold"/>
              </a:rPr>
              <a:t>3 · Тести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python -m pytest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B5B5B5"/>
                </a:solidFill>
                <a:latin typeface="Segoe UI"/>
              </a:rPr>
              <a:t>93 тести · ~99% покриття (gate ≥ 80%)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80560"/>
            <a:ext cx="5349240" cy="14630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61772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6F432"/>
                </a:solidFill>
                <a:latin typeface="Segoe UI Semibold"/>
              </a:rPr>
              <a:t>4 · Змінити правила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edit config/rules.json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B5B5B5"/>
                </a:solidFill>
                <a:latin typeface="Segoe UI"/>
              </a:rPr>
              <a:t>перезапуск сервісів — нові правила застосовано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B5B5"/>
                </a:solidFill>
                <a:latin typeface="Segoe UI"/>
              </a:rPr>
              <a:t>setuniversity.edu.ua  ·  Багатоагентний банківський пайплайн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C6F432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F432"/>
                </a:solidFill>
                <a:latin typeface="Segoe UI Semibold"/>
              </a:rPr>
              <a:t>SET</a:t>
            </a:r>
            <a:r>
              <a:rPr sz="1400" b="1">
                <a:solidFill>
                  <a:srgbClr val="FFFFFF"/>
                </a:solidFill>
                <a:latin typeface="Segoe UI Semibold"/>
              </a:rPr>
              <a:t>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" cy="82296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6F432"/>
                </a:solidFill>
                <a:latin typeface="Segoe UI Semibold"/>
              </a:rPr>
              <a:t>РЕЗУЛЬТАТИ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 Semibold"/>
              </a:rPr>
              <a:t>Прогін 8 семпл-транзакцій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783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6F432"/>
                </a:solidFill>
                <a:latin typeface="Segoe UI Semibold"/>
              </a:rPr>
              <a:t>8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усього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2" y="233172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2468880"/>
            <a:ext cx="1783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6F432"/>
                </a:solidFill>
                <a:latin typeface="Segoe UI Semibold"/>
              </a:rPr>
              <a:t>7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33172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2468880"/>
            <a:ext cx="1783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6F432"/>
                </a:solidFill>
                <a:latin typeface="Segoe UI Semibold"/>
              </a:rPr>
              <a:t>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rejected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33172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468880"/>
            <a:ext cx="1783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6F432"/>
                </a:solidFill>
                <a:latin typeface="Segoe UI Semibold"/>
              </a:rPr>
              <a:t>3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flagged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33172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2468880"/>
            <a:ext cx="1783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6F432"/>
                </a:solidFill>
                <a:latin typeface="Segoe UI Semibold"/>
              </a:rPr>
              <a:t>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331720"/>
            <a:ext cx="1783080" cy="15544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2468880"/>
            <a:ext cx="1783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6F432"/>
                </a:solidFill>
                <a:latin typeface="Segoe UI Semibold"/>
              </a:rPr>
              <a:t>4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settled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6F432"/>
                </a:solidFill>
                <a:latin typeface="Segoe UI"/>
              </a:rPr>
              <a:t>▍ </a:t>
            </a:r>
            <a:r>
              <a:rPr sz="1600" b="1">
                <a:solidFill>
                  <a:srgbClr val="C6F432"/>
                </a:solidFill>
                <a:latin typeface="Segoe UI Semibold"/>
              </a:rPr>
              <a:t>Якість  </a:t>
            </a:r>
            <a:r>
              <a:rPr sz="1600" b="0">
                <a:solidFill>
                  <a:srgbClr val="FFFFFF"/>
                </a:solidFill>
                <a:latin typeface="Segoe UI"/>
              </a:rPr>
              <a:t>93 тести, ~99% покриття; REST перевіряється in-process (TestClient).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6F432"/>
                </a:solidFill>
                <a:latin typeface="Segoe UI"/>
              </a:rPr>
              <a:t>▍ </a:t>
            </a:r>
            <a:r>
              <a:rPr sz="1600" b="1">
                <a:solidFill>
                  <a:srgbClr val="C6F432"/>
                </a:solidFill>
                <a:latin typeface="Segoe UI Semibold"/>
              </a:rPr>
              <a:t>Закрито вимоги  </a:t>
            </a:r>
            <a:r>
              <a:rPr sz="1600" b="0">
                <a:solidFill>
                  <a:srgbClr val="FFFFFF"/>
                </a:solidFill>
                <a:latin typeface="Segoe UI"/>
              </a:rPr>
              <a:t>новий агент + rule engine · REST-шлюз · demo.sh без ручних кроків.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Дякую за увагу  </a:t>
            </a:r>
            <a:r>
              <a:rPr sz="1800" b="1">
                <a:solidFill>
                  <a:srgbClr val="C6F432"/>
                </a:solidFill>
                <a:latin typeface="Segoe UI Semibold"/>
              </a:rPr>
              <a:t>· SET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5B5B5"/>
                </a:solidFill>
                <a:latin typeface="Segoe UI"/>
              </a:rPr>
              <a:t>setuniversity.edu.ua  ·  Багатоагентний банківський пайплайн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C6F432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